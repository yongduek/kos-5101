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2" y="1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43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144000" cy="11887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통계학 핵심 개념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중심극한정리 · Z-검정 · T-검정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Limit Theorem  ·  Z-Test  ·  T-Test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3200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54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실습 예제 포함  |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과학 / 통계 기초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703320"/>
            <a:ext cx="2743200" cy="10058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Limit Theorem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3703320"/>
            <a:ext cx="27432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Z-Test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Z-검정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703320"/>
            <a:ext cx="27432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T-Test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T-검정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중심극한정리 (Central Limit Theorem, CLT)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9144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7899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 (Definition):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모집단의 분포에 관계없이, 표본 크기(n)가 충분히 크면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표본평균(Sample Mean)의 분포는 정규분포에 수렴한다.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201168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8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2011680"/>
            <a:ext cx="2788920" cy="5029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0299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수렴 조건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(Convergence)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일반적으로 n ≥ 30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이면 정규분포 근사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01168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011680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0299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표본평균 분포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(Sampling Distribution)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25603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평균: μ (모집단 평균)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표준편차: σ/√n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(표준오차, 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01168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0299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중요성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(Significance)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5603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모집단이 정규분포가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아니어도 추론 가능!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추론의 기반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4114800"/>
            <a:ext cx="8686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6966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~ N(μ, σ²/n)  →  Z = (X̄ - μ) / (σ/√n) ~ N(0, 1)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 → ∞)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 – Python 예제 (Python Example)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CLT 시각화 예제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as np
</a:t>
            </a: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 as plt
</a:t>
            </a: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 </a:t>
            </a: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
</a:t>
            </a: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지수분포 모집단 생성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np.random.exponential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(scale=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size=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표본 크기별 표본평균 분포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figsize=(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ax, n </a:t>
            </a: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zip(axes, [1,5,30,100]):
    sample_means = [
</a:t>
            </a: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np.mean(np.random.choice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(population, n))
        for _ in range(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
</a:t>
            </a: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ax.hist(sample_means,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bins=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alpha=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    ax.set_title(f'n = {n}')
</a:t>
            </a: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plt.tight_layout(); plt.show()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0120"/>
            <a:ext cx="443484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3977640"/>
            <a:ext cx="44348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04164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관찰: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n=1(지수분포 모양) → n=100(완벽한 종 모양!)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크기가 클수록 정규분포에 가까워짐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Z-검정 (Z-Test)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77724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모표준편차(σ)를 알고 있고, 표본 크기가 충분히 클 때(n≥30) 모평균 검정에 사용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87452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874520"/>
            <a:ext cx="4114800" cy="41148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019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절차 (Test Procedure)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292608" cy="29260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설정 (Hypothesis)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23774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μ=μ₀  /  H₁: μ≠μ₀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62072"/>
            <a:ext cx="292608" cy="29260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2880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유의수준 설정 (Alpha)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α = 0.05 사용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364992"/>
            <a:ext cx="292608" cy="29260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검정통계량 계산 (Z-stat)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33832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(X̄ - μ₀) / (σ/√n)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292608" cy="29260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3886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확인 (Critical Value)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23160" y="3886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양측: ±1.96  (α=0.05)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292608" cy="29260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389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(Conclusion)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23160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&gt; 1.96 → H₀ 기각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1874520"/>
            <a:ext cx="43891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검정통계량 공식 (Test Statistic)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17720" y="2286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(X̄ - μ₀) / (σ / √n)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526280" y="320040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3200400"/>
            <a:ext cx="2103120" cy="384048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2278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사용 조건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17720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모표준편차(σ) 알려짐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17720" y="4041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≥ 30 (대표본)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177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표준정규분포 사용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39128" y="320040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200400"/>
            <a:ext cx="21031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39128" y="32278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사용 조건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30568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모름 (소표본 가능)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30568" y="4041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 30 가능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30568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t-분포 사용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Z-검정 – Python 예제 (Python Example)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Z-test 예제: 음료 용량 검정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3977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as np
from scipy 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
</a:t>
            </a: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문제: 평균 500ml 음료, σ=15ml
# 30개 표본 평균이 494ml -&gt; 차이 있나?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mu_0, sigma = 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모평균, 모표준편차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x_bar = 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494  </a:t>
            </a: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표본크기, 표본평균
# 검정통계량 계산 (Test Statistic)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= sigma / np.sqrt(n)
z_stat = (x_bar - mu_0) / se
</a:t>
            </a: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p-value (양측검정, Two-tailed)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p_value = 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(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stats.norm.cdf(
    abs(z_stat)))
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(f'Z 통계량: {z_stat:.4f}')
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(f'p-value: {p_value:.4f}')
</a:t>
            </a: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 = -2.1909, p = 0.0284
# p &lt; 0.05 → H0 기각!
# 평균 용량에 유의미한 차이 있음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0120"/>
            <a:ext cx="443484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3886200"/>
            <a:ext cx="443484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9502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해석: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-2.19, p = 0.0284 &lt; 0.05
</a:t>
            </a: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귀무가설 기각: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평균이 모평균과 유의미하게 다름!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T-검정 (T-Test)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모표준편차(σ)를 모를 때, 표본표준편차(s)를 사용하여 t-분포 기반으로 검정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87452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874520"/>
            <a:ext cx="2788920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892808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표본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(One-Sample)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2423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모평균과 표본 비교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제품 무게가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목표값과 같은가?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87452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874520"/>
            <a:ext cx="278892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892808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표본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(Independent)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423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독립 집단 비교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남녀 키 차이가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있는가?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87452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874520"/>
            <a:ext cx="27889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892808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표본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(Paired)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2423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집단 전후 비교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약 투여 전후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혈압 변화?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977640"/>
            <a:ext cx="86868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416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검정통계량 공식: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(X̄ - μ₀) / (s / √n)  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자유도(Degree of Freedom): </a:t>
            </a: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n - 1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(독립 표본: df = n₁+n₂-2)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4531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자유도가 클수록 t-분포는 정규분포에 수렴 (df→∞ 이면 Z-분포와 동일)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T-검정 – Python 예제 (Python Example)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T-test 예제: 두 집단 키 비교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3977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as np
from scipy </a:t>
            </a: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
np.random.seed(42)
</a:t>
            </a:r>
            <a:r>
              <a:rPr lang="en-US" sz="88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집단A: 평균 170cm, 집단B: 평균 175cm
</a:t>
            </a:r>
            <a:r>
              <a:rPr lang="en-US" sz="8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group_a = np.random.normal(
</a:t>
            </a:r>
            <a:r>
              <a:rPr lang="en-US" sz="88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170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8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8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88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# n=25
</a:t>
            </a:r>
            <a:r>
              <a:rPr lang="en-US" sz="8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 = np.random.normal(
</a:t>
            </a:r>
            <a:r>
              <a:rPr lang="en-US" sz="88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175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8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8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88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# n=25
# 독립 표본 t-검정 (Independent T-Test)
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t_stat, p_value = stats.ttest_ind(
    group_a, group_b)
</a:t>
            </a:r>
            <a:r>
              <a:rPr lang="en-US" sz="88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단일 표본 t-검정 (One-Sample)
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t1, p1 = stats.ttest_1samp(
    group_a, popmean=</a:t>
            </a:r>
            <a:r>
              <a:rPr lang="en-US" sz="88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88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대응 표본 t-검정 (Paired)
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= np.random.normal(120,10,30)
after  = before - np.random.normal(5,3,30)
t2, p2 = stats.ttest_rel(before, after)
</a:t>
            </a:r>
            <a:r>
              <a:rPr lang="en-US" sz="88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결과: t=-2.47, p=0.016 &lt; 0.05
# → 두 집단 키는 유의미하게 다름!</a:t>
            </a:r>
            <a:endParaRPr lang="en-US" sz="88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0120"/>
            <a:ext cx="443484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3886200"/>
            <a:ext cx="443484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9502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자유도(df)가 클수록 t→Z 분포 수렴
</a:t>
            </a:r>
            <a:r>
              <a:rPr lang="en-US" sz="11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-2.47, p = 0.016 &lt; 0.05 → H₀ 기각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두 그룹의 평균 키는 통계적으로 유의미하게 다름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비교 요약 (Summary)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200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182880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914400"/>
            <a:ext cx="2103120" cy="4572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9326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914400"/>
            <a:ext cx="2286000" cy="45720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932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914400"/>
            <a:ext cx="228600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932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417320"/>
            <a:ext cx="18288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" y="147218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1417320"/>
            <a:ext cx="21031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7984" y="147218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표본평균 분포 이해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1417320"/>
            <a:ext cx="2286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6824" y="14721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모평균 검정 (σ 알 때)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417320"/>
            <a:ext cx="2286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14721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모평균 검정 (σ 모를 때)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103120"/>
            <a:ext cx="18288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" y="215798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2103120"/>
            <a:ext cx="21031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57984" y="215798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≥ 30 권장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2103120"/>
            <a:ext cx="2286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06824" y="21579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알려짐, n ≥ 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103120"/>
            <a:ext cx="2286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21579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모름 (소표본 가능)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788920"/>
            <a:ext cx="18288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" y="284378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03120" y="2788920"/>
            <a:ext cx="21031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57984" y="284378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정규분포 수렴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2788920"/>
            <a:ext cx="2286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06824" y="28437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표준정규분포 N(0,1)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2788920"/>
            <a:ext cx="2286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28437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t-분포 (df = n-1)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474720"/>
            <a:ext cx="18288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352958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03120" y="3474720"/>
            <a:ext cx="21031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57984" y="352958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 ~ N(μ, σ²/n)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1960" y="3474720"/>
            <a:ext cx="2286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06824" y="35295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(X̄-μ₀)/(σ/√n)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0" y="3474720"/>
            <a:ext cx="2286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544" y="35295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(X̄-μ₀)/(s/√n)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160520"/>
            <a:ext cx="18288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" y="421538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임계값(α=0.05)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03120" y="4160520"/>
            <a:ext cx="21031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57984" y="421538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51960" y="4160520"/>
            <a:ext cx="2286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06824" y="42153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±1.96 (양측)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0" y="4160520"/>
            <a:ext cx="2286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38544" y="42153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t-table (df에 따라)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CLT는 Z-test와 T-test의 이론적 기반 | σ를 알면 Z-test, 모르면 T-test | 대표본(n≥30)에서는 두 검정 결과가 거의 동일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8C9501-B435-46BC-BF30-0D615556A627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1331</Words>
  <Application>Microsoft Office PowerPoint</Application>
  <PresentationFormat>On-screen Show (16:9)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통계학 핵심 개념: CLT, Z-test, T-test</dc:title>
  <dc:subject>PptxGenJS Presentation</dc:subject>
  <dc:creator>PptxGenJS</dc:creator>
  <cp:lastModifiedBy>용덕 서</cp:lastModifiedBy>
  <cp:revision>3</cp:revision>
  <dcterms:created xsi:type="dcterms:W3CDTF">2026-03-11T02:43:30Z</dcterms:created>
  <dcterms:modified xsi:type="dcterms:W3CDTF">2026-03-12T04:01:38Z</dcterms:modified>
</cp:coreProperties>
</file>