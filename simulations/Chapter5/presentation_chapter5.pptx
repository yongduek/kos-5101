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Explanatory Item Response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D9488"/>
                </a:solidFill>
              </a:defRPr>
            </a:pPr>
            <a:r>
              <a:t>A Brief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Wilson, De Boeck &amp; Carstensen (2008)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6400800" cy="0"/>
          </a:xfrm>
          <a:prstGeom prst="rect">
            <a:avLst/>
          </a:prstGeom>
          <a:noFill/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548640" y="1645920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</a:defRPr>
            </a:pPr>
            <a:r>
              <a:t>Measurement vs Explanatory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Understanding two approaches to IRT</a:t>
            </a:r>
          </a:p>
        </p:txBody>
      </p:sp>
      <p:sp>
        <p:nvSpPr>
          <p:cNvPr id="8" name="Trapezoid 7"/>
          <p:cNvSpPr/>
          <p:nvPr/>
        </p:nvSpPr>
        <p:spPr>
          <a:xfrm>
            <a:off x="548640" y="2423160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</a:defRPr>
            </a:pPr>
            <a:r>
              <a:t>The German PISA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Data structure and research questions</a:t>
            </a:r>
          </a:p>
        </p:txBody>
      </p:sp>
      <p:sp>
        <p:nvSpPr>
          <p:cNvPr id="11" name="Trapezoid 10"/>
          <p:cNvSpPr/>
          <p:nvPr/>
        </p:nvSpPr>
        <p:spPr>
          <a:xfrm>
            <a:off x="548640" y="3200400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</a:defRPr>
            </a:pPr>
            <a:r>
              <a:t>GLMM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930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Unified statistical foundation</a:t>
            </a:r>
          </a:p>
        </p:txBody>
      </p:sp>
      <p:sp>
        <p:nvSpPr>
          <p:cNvPr id="14" name="Trapezoid 13"/>
          <p:cNvSpPr/>
          <p:nvPr/>
        </p:nvSpPr>
        <p:spPr>
          <a:xfrm>
            <a:off x="548640" y="3977639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044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</a:defRPr>
            </a:pPr>
            <a:r>
              <a:t>Four Model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From descriptive to fully explanatory</a:t>
            </a:r>
          </a:p>
        </p:txBody>
      </p:sp>
      <p:sp>
        <p:nvSpPr>
          <p:cNvPr id="17" name="Trapezoid 16"/>
          <p:cNvSpPr/>
          <p:nvPr/>
        </p:nvSpPr>
        <p:spPr>
          <a:xfrm>
            <a:off x="548640" y="4754879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8172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</a:defRPr>
            </a:pPr>
            <a:r>
              <a:t>Model Comparisons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474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Fit indices and key findings</a:t>
            </a:r>
          </a:p>
        </p:txBody>
      </p:sp>
      <p:sp>
        <p:nvSpPr>
          <p:cNvPr id="20" name="Trapezoid 19"/>
          <p:cNvSpPr/>
          <p:nvPr/>
        </p:nvSpPr>
        <p:spPr>
          <a:xfrm>
            <a:off x="548640" y="5532119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5896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</a:defRPr>
            </a:pPr>
            <a:r>
              <a:t>Implications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2472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Moving forward with explanatory IRT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Measurement vs Explanatory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194560" cy="128016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920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MEASUREMENT</a:t>
            </a:r>
            <a:br/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Each item gets own parameter βᵢ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Each person gets own parameter θₚ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Standard IRT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194560" cy="1280160"/>
          </a:xfrm>
          <a:prstGeom prst="rect">
            <a:avLst/>
          </a:prstGeom>
          <a:solidFill>
            <a:srgbClr val="0D9488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1920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EXPLANATORY</a:t>
            </a:r>
            <a:br/>
            <a: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Model how item properties drive difficulties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Model how person properties drive 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Explains variation systematically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2286000"/>
            <a:ext cx="3291840" cy="0"/>
          </a:xfrm>
          <a:prstGeom prst="line">
            <a:avLst/>
          </a:prstGeom>
          <a:ln w="381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Moving from descriptive to predictive modeling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8046720" cy="822960"/>
          </a:xfrm>
          <a:prstGeom prst="rect">
            <a:avLst/>
          </a:prstGeom>
          <a:solidFill>
            <a:srgbClr val="DBEAFE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Explanatory IRT models explain why items differ and why people differ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The German PISA Mathematical Literacy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011680" cy="1188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783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45920"/>
            <a:ext cx="2011680" cy="118872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83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645920"/>
            <a:ext cx="2011680" cy="1188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783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3x3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Item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83280"/>
            <a:ext cx="2103120" cy="731520"/>
          </a:xfrm>
          <a:prstGeom prst="rect">
            <a:avLst/>
          </a:prstGeom>
          <a:solidFill>
            <a:srgbClr val="0D9488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Change &amp; Relations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79" y="3383280"/>
            <a:ext cx="2103120" cy="731520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39" y="35204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Space &amp; Shape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383280"/>
            <a:ext cx="2103120" cy="731520"/>
          </a:xfrm>
          <a:prstGeom prst="rect">
            <a:avLst/>
          </a:prstGeom>
          <a:solidFill>
            <a:srgbClr val="947171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5204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Quantities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Modeling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54880"/>
            <a:ext cx="2103120" cy="73152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Multiple Choice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4754880"/>
            <a:ext cx="2103120" cy="73152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39" y="48920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Short Answer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754880"/>
            <a:ext cx="2103120" cy="73152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8920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Open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Person Properties (Predictors)</a:t>
            </a:r>
          </a:p>
        </p:txBody>
      </p:sp>
      <p:sp>
        <p:nvSpPr>
          <p:cNvPr id="29" name="Trapezoid 28"/>
          <p:cNvSpPr/>
          <p:nvPr/>
        </p:nvSpPr>
        <p:spPr>
          <a:xfrm>
            <a:off x="1188720" y="6080760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Gender</a:t>
            </a:r>
          </a:p>
        </p:txBody>
      </p:sp>
      <p:sp>
        <p:nvSpPr>
          <p:cNvPr id="31" name="Trapezoid 30"/>
          <p:cNvSpPr/>
          <p:nvPr/>
        </p:nvSpPr>
        <p:spPr>
          <a:xfrm>
            <a:off x="3749039" y="6080760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989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School Track</a:t>
            </a:r>
          </a:p>
        </p:txBody>
      </p:sp>
      <p:sp>
        <p:nvSpPr>
          <p:cNvPr id="33" name="Trapezoid 32"/>
          <p:cNvSpPr/>
          <p:nvPr/>
        </p:nvSpPr>
        <p:spPr>
          <a:xfrm>
            <a:off x="6309359" y="6080760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5989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The GLMM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03120" cy="109728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LINEAR</a:t>
            </a:r>
            <a:br/>
            <a: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η = Σβₖ Xᵢₖ + Σθⱼ Zₚⱼ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Systematic 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2103120" cy="109728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8308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LINK</a:t>
            </a:r>
            <a:br/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logit(P) = 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490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Connects linear</a:t>
            </a:r>
            <a:br/>
            <a:r>
              <a:t>to probability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645920"/>
            <a:ext cx="2103120" cy="109728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78308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1B2A4A"/>
                </a:solidFill>
              </a:defRPr>
            </a:pPr>
            <a:r>
              <a:t>RANDOM</a:t>
            </a:r>
            <a:br/>
            <a:r>
              <a:t>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Binary response</a:t>
            </a:r>
            <a:br/>
            <a:r>
              <a:t>Bernoulli dist.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7490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Variation in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How It Works Together: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1. Predictors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5440680"/>
            <a:ext cx="365760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8036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2. Linear Combo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5440680"/>
            <a:ext cx="365760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3776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3. Logit Link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5440680"/>
            <a:ext cx="365760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9516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4. Probability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Four Model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18288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Person</a:t>
            </a:r>
            <a:br/>
            <a:r>
              <a:t>Expl?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18288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Item</a:t>
            </a:r>
            <a:br/>
            <a:r>
              <a:t>Expl?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201168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solidFill>
            <a:srgbClr val="F1F5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0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1. Rasch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2402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402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Descriptive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71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2. LR-Rasch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97179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7179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71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Person Expl.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solidFill>
            <a:srgbClr val="F1F5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3. LLTM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Item Expl.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34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4. LR-LLTM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434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34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34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Both Expl.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760720"/>
            <a:ext cx="7680960" cy="868680"/>
          </a:xfrm>
          <a:prstGeom prst="rect">
            <a:avLst/>
          </a:prstGeom>
          <a:solidFill>
            <a:srgbClr val="DBEAFE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52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Progressive complexity: M1-&gt;M2 explain person; M1-&gt;M3 explain items; M4 combines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Model 1: The Rasch Model (Baseline)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ηₚᵢ = θₚ - βᵢ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Person ability (θₚ) minus Item difficulty (βᵢ)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2011680" cy="1188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1187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Person</a:t>
            </a:r>
            <a:br/>
            <a:r>
              <a:t>Variance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474720"/>
            <a:ext cx="2011680" cy="118872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61187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0.79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2011680" cy="1188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61187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Item</a:t>
            </a:r>
            <a:br/>
            <a:r>
              <a:t>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Characteristics</a:t>
            </a:r>
          </a:p>
        </p:txBody>
      </p:sp>
      <p:sp>
        <p:nvSpPr>
          <p:cNvPr id="18" name="Trapezoid 17"/>
          <p:cNvSpPr/>
          <p:nvPr/>
        </p:nvSpPr>
        <p:spPr>
          <a:xfrm>
            <a:off x="777240" y="546811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No person predictors (ignores student properties)</a:t>
            </a:r>
          </a:p>
        </p:txBody>
      </p:sp>
      <p:sp>
        <p:nvSpPr>
          <p:cNvPr id="20" name="Trapezoid 19"/>
          <p:cNvSpPr/>
          <p:nvPr/>
        </p:nvSpPr>
        <p:spPr>
          <a:xfrm>
            <a:off x="777240" y="5907024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338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No item properties (ignores item attributes)</a:t>
            </a:r>
          </a:p>
        </p:txBody>
      </p:sp>
      <p:sp>
        <p:nvSpPr>
          <p:cNvPr id="22" name="Trapezoid 21"/>
          <p:cNvSpPr/>
          <p:nvPr/>
        </p:nvSpPr>
        <p:spPr>
          <a:xfrm>
            <a:off x="777240" y="6345936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2727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Baseline for comparison</a:t>
            </a:r>
          </a:p>
        </p:txBody>
      </p:sp>
      <p:sp>
        <p:nvSpPr>
          <p:cNvPr id="24" name="Trapezoid 23"/>
          <p:cNvSpPr/>
          <p:nvPr/>
        </p:nvSpPr>
        <p:spPr>
          <a:xfrm>
            <a:off x="777240" y="6784848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7116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Pure measurement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Model 2: Latent Regression Rasch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</a:defRPr>
            </a:pPr>
            <a:r>
              <a:t>ηₚᵢ = Σϑⱼ Zₚⱼ + θₚ - βᵢ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Person predictors (gender, track, SES) + ability + item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Key Findings</a:t>
            </a:r>
          </a:p>
        </p:txBody>
      </p:sp>
      <p:sp>
        <p:nvSpPr>
          <p:cNvPr id="9" name="Trapezoid 8"/>
          <p:cNvSpPr/>
          <p:nvPr/>
        </p:nvSpPr>
        <p:spPr>
          <a:xfrm>
            <a:off x="777240" y="3749039"/>
            <a:ext cx="256032" cy="256032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Program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0507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School track significantly predicts math ability</a:t>
            </a:r>
          </a:p>
        </p:txBody>
      </p:sp>
      <p:sp>
        <p:nvSpPr>
          <p:cNvPr id="12" name="Trapezoid 11"/>
          <p:cNvSpPr/>
          <p:nvPr/>
        </p:nvSpPr>
        <p:spPr>
          <a:xfrm>
            <a:off x="777240" y="4709159"/>
            <a:ext cx="256032" cy="256032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Gender x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651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Interaction effect observed</a:t>
            </a:r>
          </a:p>
        </p:txBody>
      </p:sp>
      <p:sp>
        <p:nvSpPr>
          <p:cNvPr id="15" name="Trapezoid 14"/>
          <p:cNvSpPr/>
          <p:nvPr/>
        </p:nvSpPr>
        <p:spPr>
          <a:xfrm>
            <a:off x="777240" y="5669279"/>
            <a:ext cx="256032" cy="256032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Variance Explained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9253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54-61% of person variance explained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669280"/>
            <a:ext cx="7863840" cy="868680"/>
          </a:xfrm>
          <a:prstGeom prst="rect">
            <a:avLst/>
          </a:prstGeom>
          <a:solidFill>
            <a:srgbClr val="FED7A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7607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Moving from pure measurement to understanding what drives ability differences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Model 3: Linear Logistic Test Model (LLTM)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ηₚᵢ = θₚ - Σβₖ Xᵢₖ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Person ability - (Item properties that predict difficulty)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Item Properties Modeled</a:t>
            </a:r>
          </a:p>
        </p:txBody>
      </p:sp>
      <p:sp>
        <p:nvSpPr>
          <p:cNvPr id="9" name="Trapezoid 8"/>
          <p:cNvSpPr/>
          <p:nvPr/>
        </p:nvSpPr>
        <p:spPr>
          <a:xfrm>
            <a:off x="777240" y="373075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Topics: Change &amp; Relations vs Space &amp; Shape vs Quantities</a:t>
            </a:r>
          </a:p>
        </p:txBody>
      </p:sp>
      <p:sp>
        <p:nvSpPr>
          <p:cNvPr id="11" name="Trapezoid 10"/>
          <p:cNvSpPr/>
          <p:nvPr/>
        </p:nvSpPr>
        <p:spPr>
          <a:xfrm>
            <a:off x="777240" y="418795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Item Type: MC vs Short Answer vs Open Response</a:t>
            </a:r>
          </a:p>
        </p:txBody>
      </p:sp>
      <p:sp>
        <p:nvSpPr>
          <p:cNvPr id="13" name="Trapezoid 12"/>
          <p:cNvSpPr/>
          <p:nvPr/>
        </p:nvSpPr>
        <p:spPr>
          <a:xfrm>
            <a:off x="777240" y="464515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Cognitive Demands: Conceptual, Procedural, Problem-solving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7863840" cy="731520"/>
          </a:xfrm>
          <a:prstGeom prst="rect">
            <a:avLst/>
          </a:prstGeom>
          <a:solidFill>
            <a:srgbClr val="DBEAFE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97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Item properties predict item difficulties with r = 0.98-0.99 (Excellent fit!)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Model 4: Latent Regression LLTM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ηₚᵢ = Σϑⱼ Zₚⱼ + θₚ - Σβₖ Xᵢₖ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Person predictors + Ability + Item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Advantages of Combined Approach</a:t>
            </a:r>
          </a:p>
        </p:txBody>
      </p:sp>
      <p:sp>
        <p:nvSpPr>
          <p:cNvPr id="9" name="Trapezoid 8"/>
          <p:cNvSpPr/>
          <p:nvPr/>
        </p:nvSpPr>
        <p:spPr>
          <a:xfrm>
            <a:off x="777240" y="363931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Explains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Why some students succeed (gender, SES, track)</a:t>
            </a:r>
          </a:p>
        </p:txBody>
      </p:sp>
      <p:sp>
        <p:nvSpPr>
          <p:cNvPr id="12" name="Trapezoid 11"/>
          <p:cNvSpPr/>
          <p:nvPr/>
        </p:nvSpPr>
        <p:spPr>
          <a:xfrm>
            <a:off x="777240" y="423367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Explains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Why some items are harder (topic, type, complexity)</a:t>
            </a:r>
          </a:p>
        </p:txBody>
      </p:sp>
      <p:sp>
        <p:nvSpPr>
          <p:cNvPr id="15" name="Trapezoid 14"/>
          <p:cNvSpPr/>
          <p:nvPr/>
        </p:nvSpPr>
        <p:spPr>
          <a:xfrm>
            <a:off x="777240" y="482803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Synergistic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54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Captures interactions between student and item features</a:t>
            </a:r>
          </a:p>
        </p:txBody>
      </p:sp>
      <p:sp>
        <p:nvSpPr>
          <p:cNvPr id="18" name="Trapezoid 17"/>
          <p:cNvSpPr/>
          <p:nvPr/>
        </p:nvSpPr>
        <p:spPr>
          <a:xfrm>
            <a:off x="777240" y="542239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49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Fewer parameters, better prediction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69280"/>
            <a:ext cx="7863840" cy="868680"/>
          </a:xfrm>
          <a:prstGeom prst="rect">
            <a:avLst/>
          </a:prstGeom>
          <a:solidFill>
            <a:srgbClr val="CCFAE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Best-fit model: Explains both why students vary AND why items vary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Model Comparison: Fit Indices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</a:defRPr>
            </a:pPr>
            <a:r>
              <a:t>Comparing Models via Deviance, AIC, BIC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377440" cy="4114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2011680" cy="4114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Deviance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2011680" cy="4114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011680"/>
            <a:ext cx="2011680" cy="4114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23160"/>
            <a:ext cx="7498079" cy="640080"/>
          </a:xfrm>
          <a:prstGeom prst="rect">
            <a:avLst/>
          </a:prstGeom>
          <a:solidFill>
            <a:srgbClr val="F1F5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14600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</a:defRPr>
            </a:pPr>
            <a:r>
              <a:t>Model 1: Rasch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1460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14,547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51460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14,583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51460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14,614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</a:defRPr>
            </a:pPr>
            <a:r>
              <a:t>Model 2: LR-Rasch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15468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5468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14,440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5468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14,487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03320"/>
            <a:ext cx="7498079" cy="640080"/>
          </a:xfrm>
          <a:prstGeom prst="rect">
            <a:avLst/>
          </a:prstGeom>
          <a:solidFill>
            <a:srgbClr val="F1F5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94760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</a:defRPr>
            </a:pPr>
            <a:r>
              <a:t>Model 3: LLTM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9476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79476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14,252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79476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14,303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Model 4: LR-LLTM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3484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14,113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43484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14,181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434840"/>
            <a:ext cx="1828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14,256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Lower values = Better fit</a:t>
            </a:r>
          </a:p>
        </p:txBody>
      </p:sp>
      <p:sp>
        <p:nvSpPr>
          <p:cNvPr id="33" name="Trapezoid 32"/>
          <p:cNvSpPr/>
          <p:nvPr/>
        </p:nvSpPr>
        <p:spPr>
          <a:xfrm>
            <a:off x="777240" y="5193792"/>
            <a:ext cx="201168" cy="201168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Model 2 improves over Model 1: Person explanations matter</a:t>
            </a:r>
          </a:p>
        </p:txBody>
      </p:sp>
      <p:sp>
        <p:nvSpPr>
          <p:cNvPr id="35" name="Trapezoid 34"/>
          <p:cNvSpPr/>
          <p:nvPr/>
        </p:nvSpPr>
        <p:spPr>
          <a:xfrm>
            <a:off x="777240" y="5605272"/>
            <a:ext cx="201168" cy="201168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Model 3 improves over Model 1: Item explanations matter</a:t>
            </a:r>
          </a:p>
        </p:txBody>
      </p:sp>
      <p:sp>
        <p:nvSpPr>
          <p:cNvPr id="37" name="Trapezoid 36"/>
          <p:cNvSpPr/>
          <p:nvPr/>
        </p:nvSpPr>
        <p:spPr>
          <a:xfrm>
            <a:off x="777240" y="6016752"/>
            <a:ext cx="201168" cy="201168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Model 4 best: Combined person + item explanations optimal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Key Findings &amp;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863840" cy="868680"/>
          </a:xfrm>
          <a:prstGeom prst="rect">
            <a:avLst/>
          </a:prstGeom>
          <a:solidFill>
            <a:srgbClr val="F1F5F9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IRT as GLMM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Item response models are generalized linear mixed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7863840" cy="868680"/>
          </a:xfrm>
          <a:prstGeom prst="rect">
            <a:avLst/>
          </a:prstGeom>
          <a:solidFill>
            <a:srgbClr val="DBEAFE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Explanatory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Person properties explain ~60% of performance variation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7863840" cy="868680"/>
          </a:xfrm>
          <a:prstGeom prst="rect">
            <a:avLst/>
          </a:prstGeom>
          <a:solidFill>
            <a:srgbClr val="CCFAE5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Item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Item properties predict item difficulty r = 0.98-0.99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4879"/>
            <a:ext cx="7863840" cy="868680"/>
          </a:xfrm>
          <a:prstGeom prst="rect">
            <a:avLst/>
          </a:prstGeom>
          <a:solidFill>
            <a:srgbClr val="FED7A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463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Model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937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Progressive models: Rasch -&gt; LR-Rasch -&gt; LLTM -&gt; LR-LLTM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Moving from pure measurement to systematic explanation of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Simulation Exercise for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</a:defRPr>
            </a:pPr>
            <a:r>
              <a:t>Hands-on Learning Activity</a:t>
            </a:r>
          </a:p>
        </p:txBody>
      </p:sp>
      <p:sp>
        <p:nvSpPr>
          <p:cNvPr id="6" name="Trapezoid 5"/>
          <p:cNvSpPr/>
          <p:nvPr/>
        </p:nvSpPr>
        <p:spPr>
          <a:xfrm>
            <a:off x="777240" y="2176272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945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Generate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32303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Create simulated response data based on Rasch model</a:t>
            </a:r>
          </a:p>
        </p:txBody>
      </p:sp>
      <p:sp>
        <p:nvSpPr>
          <p:cNvPr id="10" name="Trapezoid 9"/>
          <p:cNvSpPr/>
          <p:nvPr/>
        </p:nvSpPr>
        <p:spPr>
          <a:xfrm>
            <a:off x="777240" y="2980944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9923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077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Fit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3697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Use Python to fit all 4 models progressively</a:t>
            </a:r>
          </a:p>
        </p:txBody>
      </p:sp>
      <p:sp>
        <p:nvSpPr>
          <p:cNvPr id="14" name="Trapezoid 13"/>
          <p:cNvSpPr/>
          <p:nvPr/>
        </p:nvSpPr>
        <p:spPr>
          <a:xfrm>
            <a:off x="777240" y="3785615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803903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1246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Compare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4164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Calculate deviance, AIC, BIC for each model</a:t>
            </a:r>
          </a:p>
        </p:txBody>
      </p:sp>
      <p:sp>
        <p:nvSpPr>
          <p:cNvPr id="18" name="Trapezoid 17"/>
          <p:cNvSpPr/>
          <p:nvPr/>
        </p:nvSpPr>
        <p:spPr>
          <a:xfrm>
            <a:off x="777240" y="4590288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608575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17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46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Examine parameters and understand person/item effects</a:t>
            </a:r>
          </a:p>
        </p:txBody>
      </p:sp>
      <p:sp>
        <p:nvSpPr>
          <p:cNvPr id="22" name="Trapezoid 21"/>
          <p:cNvSpPr/>
          <p:nvPr/>
        </p:nvSpPr>
        <p:spPr>
          <a:xfrm>
            <a:off x="777240" y="5394959"/>
            <a:ext cx="320040" cy="32004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413247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218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6509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Plot item difficulty estimates and ability distributions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760720"/>
            <a:ext cx="7863840" cy="77724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Interactive learning: Code-along with Python scripts, modify parameters, observe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Thank You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noFill/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Explanatory IRT models bridge measurement and explanation</a:t>
            </a:r>
          </a:p>
        </p:txBody>
      </p:sp>
      <p:sp>
        <p:nvSpPr>
          <p:cNvPr id="7" name="Trapezoid 6"/>
          <p:cNvSpPr/>
          <p:nvPr/>
        </p:nvSpPr>
        <p:spPr>
          <a:xfrm>
            <a:off x="777240" y="3822191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Use person properties to explain ability variation</a:t>
            </a:r>
          </a:p>
        </p:txBody>
      </p:sp>
      <p:sp>
        <p:nvSpPr>
          <p:cNvPr id="9" name="Trapezoid 8"/>
          <p:cNvSpPr/>
          <p:nvPr/>
        </p:nvSpPr>
        <p:spPr>
          <a:xfrm>
            <a:off x="777240" y="427939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Use item properties to explain item difficulty</a:t>
            </a:r>
          </a:p>
        </p:txBody>
      </p:sp>
      <p:sp>
        <p:nvSpPr>
          <p:cNvPr id="11" name="Trapezoid 10"/>
          <p:cNvSpPr/>
          <p:nvPr/>
        </p:nvSpPr>
        <p:spPr>
          <a:xfrm>
            <a:off x="777240" y="473659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GLMM framework unifies different model variants</a:t>
            </a:r>
          </a:p>
        </p:txBody>
      </p:sp>
      <p:sp>
        <p:nvSpPr>
          <p:cNvPr id="13" name="Trapezoid 12"/>
          <p:cNvSpPr/>
          <p:nvPr/>
        </p:nvSpPr>
        <p:spPr>
          <a:xfrm>
            <a:off x="777240" y="5193792"/>
            <a:ext cx="228600" cy="228600"/>
          </a:xfrm>
          <a:prstGeom prst="trapezoid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Systematic comparison guides model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17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Wilson, De Boeck &amp; Carstensen (2008)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Explanatory Item Response Models: A Brief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